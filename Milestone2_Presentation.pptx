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3" r:id="rId10"/>
    <p:sldId id="270" r:id="rId11"/>
    <p:sldId id="273" r:id="rId12"/>
    <p:sldId id="271" r:id="rId13"/>
    <p:sldId id="274" r:id="rId14"/>
    <p:sldId id="275" r:id="rId15"/>
    <p:sldId id="276" r:id="rId16"/>
    <p:sldId id="264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B0409-7D11-42F2-8B88-725B63E75060}" v="600" dt="2026-03-26T19:31:04.848"/>
    <p1510:client id="{6DF1485B-F885-472A-BCC9-3FC9A6FF236C}" v="1283" dt="2026-03-26T20:29:29.860"/>
    <p1510:client id="{A2FD9361-BDEB-CE71-384A-BAAD3D4A6815}" v="539" dt="2026-03-26T19:32:54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34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Operational Coordination Platform for Outreach and Engagement</a:t>
            </a:r>
            <a:br>
              <a:rPr lang="en-US" sz="2000"/>
            </a:br>
            <a:endParaRPr lang="en-US" sz="2000"/>
          </a:p>
          <a:p>
            <a:pPr>
              <a:lnSpc>
                <a:spcPct val="90000"/>
              </a:lnSpc>
            </a:pPr>
            <a:r>
              <a:rPr lang="en-US" sz="2600" b="1"/>
              <a:t>Milestone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Team 1 Members: Adam, Samuel, Tyler, Masoud</a:t>
            </a:r>
          </a:p>
          <a:p>
            <a:r>
              <a:rPr lang="en-US" sz="2000"/>
              <a:t>Course: IT 4983</a:t>
            </a:r>
          </a:p>
          <a:p>
            <a:r>
              <a:rPr lang="en-US" sz="2000"/>
              <a:t>Date: 03/24/2026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3600"/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Adam – IT Major</a:t>
            </a:r>
          </a:p>
          <a:p>
            <a:r>
              <a:rPr lang="en-US" sz="2000"/>
              <a:t>Samuel – IT Major</a:t>
            </a:r>
          </a:p>
          <a:p>
            <a:r>
              <a:rPr lang="en-US" sz="2000"/>
              <a:t>Tyler – IT Major</a:t>
            </a:r>
          </a:p>
          <a:p>
            <a:r>
              <a:rPr lang="en-US" sz="2000"/>
              <a:t>Masoud – IT Major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3600"/>
              <a:t>Project Summary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000"/>
              <a:t>Improve coordination of outreach and engagement events</a:t>
            </a:r>
          </a:p>
          <a:p>
            <a:r>
              <a:rPr lang="en-US" sz="2000"/>
              <a:t>Current system lacks formal, centralized view</a:t>
            </a:r>
          </a:p>
          <a:p>
            <a:r>
              <a:rPr lang="en-US" sz="2000"/>
              <a:t>Lack of structure creates inefficiencies</a:t>
            </a:r>
          </a:p>
          <a:p>
            <a:r>
              <a:rPr lang="en-US" sz="2000"/>
              <a:t>Goal: centralized coordination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US" sz="3600"/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US" sz="2000"/>
              <a:t>No centralized system</a:t>
            </a:r>
          </a:p>
          <a:p>
            <a:r>
              <a:rPr lang="en-US" sz="2000"/>
              <a:t>Unclear task ownership</a:t>
            </a:r>
          </a:p>
          <a:p>
            <a:r>
              <a:rPr lang="en-US" sz="2000"/>
              <a:t>Missed or unclear deadlines</a:t>
            </a:r>
          </a:p>
          <a:p>
            <a:r>
              <a:rPr lang="en-US" sz="2000"/>
              <a:t>Limited visibility across events</a:t>
            </a:r>
          </a:p>
          <a:p>
            <a:r>
              <a:rPr lang="en-US" sz="2000" b="1"/>
              <a:t>Need a dedicated tool to coordinate event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3600"/>
              <a:t>Tool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Usability</a:t>
            </a:r>
          </a:p>
          <a:p>
            <a:r>
              <a:rPr lang="en-US" sz="2000"/>
              <a:t>Task Visibility / Creation</a:t>
            </a:r>
          </a:p>
          <a:p>
            <a:r>
              <a:rPr lang="en-US" sz="2000"/>
              <a:t>Ease of Use / Implementation</a:t>
            </a:r>
          </a:p>
          <a:p>
            <a:r>
              <a:rPr lang="en-US" sz="2000"/>
              <a:t>Price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US" sz="3600"/>
              <a:t>Tool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US" sz="2000"/>
              <a:t>Microsoft Planner – task management, built in Microsoft 365.</a:t>
            </a:r>
          </a:p>
          <a:p>
            <a:r>
              <a:rPr lang="en-US" sz="2000"/>
              <a:t>Asana – advanced but complex, steeper learning curve</a:t>
            </a:r>
          </a:p>
          <a:p>
            <a:r>
              <a:rPr lang="en-US" sz="2000"/>
              <a:t>Trello – simple but limited, lacks reporting</a:t>
            </a:r>
          </a:p>
          <a:p>
            <a:r>
              <a:rPr lang="en-US" sz="2000"/>
              <a:t>All can work, but which tool best solves the team’s problems?</a:t>
            </a:r>
          </a:p>
        </p:txBody>
      </p:sp>
      <p:pic>
        <p:nvPicPr>
          <p:cNvPr id="4" name="Picture 3" descr="Asana Logo, symbol, meaning, history, PNG, brand">
            <a:extLst>
              <a:ext uri="{FF2B5EF4-FFF2-40B4-BE49-F238E27FC236}">
                <a16:creationId xmlns:a16="http://schemas.microsoft.com/office/drawing/2014/main" id="{9F508575-1868-1880-9C7E-0032C2ED4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557" y="444980"/>
            <a:ext cx="1600200" cy="894546"/>
          </a:xfrm>
          <a:prstGeom prst="rect">
            <a:avLst/>
          </a:prstGeom>
        </p:spPr>
      </p:pic>
      <p:pic>
        <p:nvPicPr>
          <p:cNvPr id="5" name="Picture 4" descr="Microsoft Project on the Web becoming Planner Premium | IT ...">
            <a:extLst>
              <a:ext uri="{FF2B5EF4-FFF2-40B4-BE49-F238E27FC236}">
                <a16:creationId xmlns:a16="http://schemas.microsoft.com/office/drawing/2014/main" id="{628C69A8-93ED-0238-FCA8-BDE14A01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36" y="449725"/>
            <a:ext cx="1300767" cy="761464"/>
          </a:xfrm>
          <a:prstGeom prst="rect">
            <a:avLst/>
          </a:prstGeom>
        </p:spPr>
      </p:pic>
      <p:pic>
        <p:nvPicPr>
          <p:cNvPr id="6" name="Picture 5" descr="Trello Logo, symbol, meaning, history, PNG, brand">
            <a:extLst>
              <a:ext uri="{FF2B5EF4-FFF2-40B4-BE49-F238E27FC236}">
                <a16:creationId xmlns:a16="http://schemas.microsoft.com/office/drawing/2014/main" id="{D018F75F-7FD9-B43C-CF9F-567D7AF01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809" y="354594"/>
            <a:ext cx="1757969" cy="944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9E306-ECB6-F80A-ACF9-53A5863C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55E470E-D997-F385-708A-9943B0DCB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09A38A1-22CB-68B1-C170-8628D3BB5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C46BC7C-3E5E-6824-AC81-3CBED2101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F0B858A-1879-9A87-C867-D085E3A4E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A9352DB-4BD8-C1CB-54EE-64B9CC47A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B8BDBC0-033D-A58E-817C-A01C05BD0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B81F3-6226-92CC-4298-12A58E77C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3600"/>
              <a:t>Microsoft Planner</a:t>
            </a:r>
            <a:br>
              <a:rPr lang="en-US" sz="3600"/>
            </a:br>
            <a:r>
              <a:rPr lang="en-US" sz="2800"/>
              <a:t>Pros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6386-6114-78AE-EE96-A668AAB81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Bundled in Office 365</a:t>
            </a:r>
          </a:p>
          <a:p>
            <a:pPr lvl="1"/>
            <a:r>
              <a:rPr lang="en-US" sz="1600"/>
              <a:t>Integrates with other Office 365 tools (To Do, Outlook, etc.)</a:t>
            </a:r>
          </a:p>
          <a:p>
            <a:r>
              <a:rPr lang="en-US" sz="2000"/>
              <a:t>Performs tasks well</a:t>
            </a:r>
          </a:p>
          <a:p>
            <a:r>
              <a:rPr lang="en-US" sz="2000"/>
              <a:t>Simple to use, little time to perform tasks</a:t>
            </a:r>
          </a:p>
          <a:p>
            <a:r>
              <a:rPr lang="en-US" sz="2000"/>
              <a:t>Notifications for upcoming/missed tasks</a:t>
            </a:r>
          </a:p>
          <a:p>
            <a:endParaRPr lang="en-US" sz="2000"/>
          </a:p>
          <a:p>
            <a:endParaRPr lang="en-US" sz="20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E7CC082-A60A-17C6-99A4-C2615F372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CCA9154F-BF5B-C30D-5D25-9C95C9D43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22" y="613954"/>
            <a:ext cx="903834" cy="90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907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7CB4E-A0D4-04F8-BDB7-2ECE6C6B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770313D-FF15-FB42-7DDE-588C406C5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440E330-4B42-27CC-10C2-DB3642BD1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AB26D7E-CB31-1991-0F0B-B0345CBBB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F2B9B1A-69E2-F1F0-A352-338A4AB73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5A0C8D0-D801-BF43-F510-B13FF4C80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E291DF7-A436-6F80-3F6D-313C6A599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F4684-6B98-5F29-BA0D-FB723B603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3600"/>
              <a:t>Microsoft Planner</a:t>
            </a:r>
            <a:br>
              <a:rPr lang="en-US" sz="3600"/>
            </a:br>
            <a:r>
              <a:rPr lang="en-US" sz="2800"/>
              <a:t>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12BE-2A58-F9ED-76E6-5544224A6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No way to designate primary owner / supporting staff</a:t>
            </a:r>
          </a:p>
          <a:p>
            <a:pPr lvl="1"/>
            <a:r>
              <a:rPr lang="en-US" sz="1600"/>
              <a:t>Primary owner could be designated using a label for the owner of the task</a:t>
            </a:r>
          </a:p>
          <a:p>
            <a:pPr marL="457200" lvl="1" indent="0">
              <a:buNone/>
            </a:pPr>
            <a:endParaRPr lang="en-US" sz="1600"/>
          </a:p>
          <a:p>
            <a:r>
              <a:rPr lang="en-US" sz="2000"/>
              <a:t>No notifications for tasks that are unassigned</a:t>
            </a:r>
          </a:p>
          <a:p>
            <a:endParaRPr lang="en-US" sz="2000"/>
          </a:p>
          <a:p>
            <a:endParaRPr lang="en-US" sz="20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45DD3A3-BB74-199B-F5CE-142023D52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2DE3E19B-2A61-9491-CFA1-BFC2663B4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22" y="613954"/>
            <a:ext cx="903834" cy="90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535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62E63-1521-98F2-0B0F-0DB343A1D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0AE45B3-87DE-6019-67E3-9910A8E3F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419E27-7E3A-3677-EC1D-3260CA93B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BA3516D-D052-35E9-ED18-87D07C02A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5F1949A-009E-0E1C-E69D-126DD024C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7731DB-8466-EDC1-33E0-0C378FFCC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483F05A-BBF9-C2E4-B706-98A0275CF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2710E-A15D-75A8-1B66-E2C2D87FE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16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3600"/>
              <a:t>Asana</a:t>
            </a:r>
            <a:br>
              <a:rPr lang="en-US" sz="3600"/>
            </a:br>
            <a:r>
              <a:rPr lang="en-US" sz="2800"/>
              <a:t>Pros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FC509-48E0-FD84-3350-9C915640F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Starter plan includes Timeline/Gantt, Calander</a:t>
            </a:r>
          </a:p>
          <a:p>
            <a:r>
              <a:rPr lang="en-US" sz="2000"/>
              <a:t>Scalability with higher tiers</a:t>
            </a:r>
          </a:p>
          <a:p>
            <a:r>
              <a:rPr lang="en-US" sz="2000"/>
              <a:t>No user limit in starter plan</a:t>
            </a:r>
          </a:p>
          <a:p>
            <a:endParaRPr lang="en-US" sz="20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5D62BB-3106-EEAA-1AA2-010515E71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174B944E-D3BD-1124-25A6-009C44D1C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742" y="511775"/>
            <a:ext cx="1096027" cy="72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9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4A71E-27C2-7DA7-7670-6ED6894A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A73977E-A98B-4E4B-8DA0-81E28D22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4CC66CB-7107-85F0-D23A-29261F042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857E639-481B-2151-DEF9-1192A46FB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DD7B62C-B7BC-2EA3-C365-C7152F5D2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3D4BBB-E662-949F-BB6F-1B4800B8B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B7AA505-E267-C33F-4F13-47AC9E3C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12C1F-6C24-3760-F3DA-F0E63DDD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3600"/>
              <a:t>Asana</a:t>
            </a:r>
            <a:br>
              <a:rPr lang="en-US" sz="3600"/>
            </a:br>
            <a:r>
              <a:rPr lang="en-US" sz="2800"/>
              <a:t>Cons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3F7D-96A1-1547-3D4F-2BA61DF02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/>
              <a:t>Paid tier necessary for implementation</a:t>
            </a:r>
          </a:p>
          <a:p>
            <a:r>
              <a:rPr lang="en-US" sz="2000"/>
              <a:t>More training for nontechnical staff</a:t>
            </a:r>
          </a:p>
          <a:p>
            <a:r>
              <a:rPr lang="en-US" sz="2000"/>
              <a:t>Outside of Windows platform involvement</a:t>
            </a:r>
          </a:p>
          <a:p>
            <a:r>
              <a:rPr lang="en-US" sz="2000"/>
              <a:t>Goals, portfolios not included in starter tier</a:t>
            </a:r>
          </a:p>
          <a:p>
            <a:r>
              <a:rPr lang="en-US" sz="2000"/>
              <a:t>Recommended tier costs 10.99 per user/month</a:t>
            </a:r>
          </a:p>
          <a:p>
            <a:endParaRPr lang="en-US" sz="20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5EE3AF4-C82C-4D14-E57B-E310857E9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E865015-5758-8B14-194D-25134A69A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742" y="511775"/>
            <a:ext cx="1096027" cy="72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39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B47EB-8A2B-4E74-0080-DB0F3F87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A5F4729-BFF4-BE69-F3CD-B3769192E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79BCA05-060A-CC24-D6A8-4124DCAD8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AF8454-8CBD-4F10-D258-52B1161F0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1B1CE56-BE00-CD4B-70CE-3974DEAD4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E6A3F4C-B843-AF1F-D00F-8F6636EED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B45AE0D5-ABCF-3671-7253-9A789991B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F3C6A-8E94-743A-CFE5-80ACFB74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3600"/>
              <a:t>Trello</a:t>
            </a:r>
            <a:br>
              <a:rPr lang="en-US" sz="3600"/>
            </a:br>
            <a:r>
              <a:rPr lang="en-US" sz="2800"/>
              <a:t>Pros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405B-3165-67D5-7E10-ABDB0968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Free to start – no cost for basic use</a:t>
            </a:r>
            <a:endParaRPr lang="en-US" sz="2000"/>
          </a:p>
          <a:p>
            <a:r>
              <a:rPr lang="en-US" sz="2000">
                <a:ea typeface="Calibri"/>
                <a:cs typeface="Calibri"/>
              </a:rPr>
              <a:t>Visual intuitive – Kanban boards are easy to understand at glance</a:t>
            </a:r>
            <a:endParaRPr lang="en-US" sz="2000"/>
          </a:p>
          <a:p>
            <a:r>
              <a:rPr lang="en-US" sz="2000">
                <a:ea typeface="Calibri"/>
                <a:cs typeface="Calibri"/>
              </a:rPr>
              <a:t>Mobile friendly – Staff can update tasks from their phones</a:t>
            </a:r>
          </a:p>
          <a:p>
            <a:endParaRPr lang="en-US" sz="20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380A8F6-CECB-1C9C-3C9D-D7F805D18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rello Logo, symbol, meaning, history, PNG, brand">
            <a:extLst>
              <a:ext uri="{FF2B5EF4-FFF2-40B4-BE49-F238E27FC236}">
                <a16:creationId xmlns:a16="http://schemas.microsoft.com/office/drawing/2014/main" id="{EA1EE0EB-A369-376C-6104-9585706B3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49" y="584319"/>
            <a:ext cx="1367692" cy="7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0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A6663-D12E-74CC-1873-049D8985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2DEDEC-75D7-FCBA-05C8-36A06E1D3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E6E5316-F7E0-2885-A87A-1B6D3CC6D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6F7804B-1136-BB9D-452A-4560693D3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AC83F8D-39A6-22F3-EDFE-1AC6D0BF0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1712C1A-B389-1654-832C-82FD42B3F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C773C406-0621-1BF8-DB09-D2E849E38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F4E23-9111-87E4-991E-EEF11D21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3600"/>
              <a:t>Trello</a:t>
            </a:r>
            <a:br>
              <a:rPr lang="en-US" sz="3600"/>
            </a:br>
            <a:r>
              <a:rPr lang="en-US" sz="2800"/>
              <a:t>Cons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122D3-2D9B-B6AB-087D-4DE999DE3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No built-in notifications - </a:t>
            </a:r>
            <a:r>
              <a:rPr lang="en-US" sz="2000">
                <a:ea typeface="+mn-lt"/>
                <a:cs typeface="+mn-lt"/>
              </a:rPr>
              <a:t>no automatic reminders when deadlines are approaching</a:t>
            </a:r>
            <a:endParaRPr lang="en-US" sz="2000"/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Scales poorly -  Gets  clustered and hard to manage when working with multiple events </a:t>
            </a:r>
            <a:r>
              <a:rPr lang="en-US" sz="2000">
                <a:ea typeface="+mn-lt"/>
                <a:cs typeface="+mn-lt"/>
              </a:rPr>
              <a:t>simultaneously</a:t>
            </a: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No role-based permissions- Anyone on the board can edit or delete anything, which is a risk for a government office.</a:t>
            </a:r>
            <a:endParaRPr lang="en-US" sz="2000"/>
          </a:p>
          <a:p>
            <a:endParaRPr lang="en-US" sz="20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E890B41-C351-4630-C88F-0F9D080A8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Trello Logo, symbol, meaning, history, PNG, brand">
            <a:extLst>
              <a:ext uri="{FF2B5EF4-FFF2-40B4-BE49-F238E27FC236}">
                <a16:creationId xmlns:a16="http://schemas.microsoft.com/office/drawing/2014/main" id="{65E1879B-A833-2994-41B6-C093FEF4F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49" y="584319"/>
            <a:ext cx="1367692" cy="7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88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3600"/>
              <a:t>Recommendation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599509"/>
            <a:ext cx="7596518" cy="1570709"/>
          </a:xfrm>
        </p:spPr>
        <p:txBody>
          <a:bodyPr anchor="ctr">
            <a:normAutofit/>
          </a:bodyPr>
          <a:lstStyle/>
          <a:p>
            <a:r>
              <a:rPr lang="en-US" sz="2000"/>
              <a:t>Use Microsoft Planner for task management</a:t>
            </a:r>
          </a:p>
          <a:p>
            <a:r>
              <a:rPr lang="en-US" sz="2000"/>
              <a:t>Easy to use</a:t>
            </a:r>
          </a:p>
          <a:p>
            <a:r>
              <a:rPr lang="en-US" sz="2000"/>
              <a:t>Cost-effective</a:t>
            </a:r>
          </a:p>
          <a:p>
            <a:r>
              <a:rPr lang="en-US" sz="2000"/>
              <a:t>Works with Microsoft 365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C4CA3-90CD-A38A-D474-A59F166B5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635" y="4459784"/>
            <a:ext cx="3841636" cy="14295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US" sz="360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US" sz="2000"/>
              <a:t>Finalize deliverables</a:t>
            </a:r>
          </a:p>
          <a:p>
            <a:r>
              <a:rPr lang="en-US" sz="2000"/>
              <a:t>Prepare for POC</a:t>
            </a:r>
          </a:p>
          <a:p>
            <a:r>
              <a:rPr lang="en-US" sz="2000"/>
              <a:t>Demonstrate</a:t>
            </a:r>
          </a:p>
          <a:p>
            <a:r>
              <a:rPr lang="en-US" sz="2000"/>
              <a:t>Address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bed0e5-858b-45e1-b7f8-c5d307bab0a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11D3E14ECF834FB02168E9EE1984A9" ma:contentTypeVersion="15" ma:contentTypeDescription="Create a new document." ma:contentTypeScope="" ma:versionID="8cae8dab7d621ffc7e924f112e228ee8">
  <xsd:schema xmlns:xsd="http://www.w3.org/2001/XMLSchema" xmlns:xs="http://www.w3.org/2001/XMLSchema" xmlns:p="http://schemas.microsoft.com/office/2006/metadata/properties" xmlns:ns3="4db4799f-06aa-4eac-b01a-5b24d3469664" xmlns:ns4="cabed0e5-858b-45e1-b7f8-c5d307bab0a7" targetNamespace="http://schemas.microsoft.com/office/2006/metadata/properties" ma:root="true" ma:fieldsID="cf23bb38edac16be74ef7636c8289a9b" ns3:_="" ns4:_="">
    <xsd:import namespace="4db4799f-06aa-4eac-b01a-5b24d3469664"/>
    <xsd:import namespace="cabed0e5-858b-45e1-b7f8-c5d307bab0a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bjectDetectorVersions" minOccurs="0"/>
                <xsd:element ref="ns4:_activity" minOccurs="0"/>
                <xsd:element ref="ns4:MediaServiceSearchProperties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4799f-06aa-4eac-b01a-5b24d346966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ed0e5-858b-45e1-b7f8-c5d307bab0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907174-5E09-4B04-8B59-BEEEC24F56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088E1C-9BB8-410F-A880-E58B40351F27}">
  <ds:schemaRefs>
    <ds:schemaRef ds:uri="http://schemas.openxmlformats.org/package/2006/metadata/core-properties"/>
    <ds:schemaRef ds:uri="http://purl.org/dc/dcmitype/"/>
    <ds:schemaRef ds:uri="4db4799f-06aa-4eac-b01a-5b24d3469664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cabed0e5-858b-45e1-b7f8-c5d307bab0a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DDA1CA8-3FC3-41D6-B4FB-CAAE1F46F22C}">
  <ds:schemaRefs>
    <ds:schemaRef ds:uri="4db4799f-06aa-4eac-b01a-5b24d3469664"/>
    <ds:schemaRef ds:uri="cabed0e5-858b-45e1-b7f8-c5d307bab0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On-screen Show (4:3)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Operational Coordination Platform for Outreach and Engagement  Milestone 2</vt:lpstr>
      <vt:lpstr>Team Introduction</vt:lpstr>
      <vt:lpstr>Project Summary</vt:lpstr>
      <vt:lpstr>Current Challenges</vt:lpstr>
      <vt:lpstr>Tool Criteria</vt:lpstr>
      <vt:lpstr>Tool Evaluation</vt:lpstr>
      <vt:lpstr>Microsoft Planner Pros</vt:lpstr>
      <vt:lpstr>Microsoft Planner Cons</vt:lpstr>
      <vt:lpstr>Asana Pros</vt:lpstr>
      <vt:lpstr>Asana Cons</vt:lpstr>
      <vt:lpstr>Trello Pros</vt:lpstr>
      <vt:lpstr>Trello Cons</vt:lpstr>
      <vt:lpstr>Recommendation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Masoudi</dc:creator>
  <cp:keywords/>
  <dc:description>generated using python-pptx</dc:description>
  <cp:lastModifiedBy>Adam Hutcheson</cp:lastModifiedBy>
  <cp:revision>2</cp:revision>
  <dcterms:created xsi:type="dcterms:W3CDTF">2013-01-27T09:14:16Z</dcterms:created>
  <dcterms:modified xsi:type="dcterms:W3CDTF">2026-04-09T21:50:54Z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0x0101007B11D3E14ECF834FB02168E9EE1984A9</vt:lpwstr>
  </property>
</Properties>
</file>